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Libre Franklin"/>
      <p:regular r:id="rId18"/>
      <p:bold r:id="rId19"/>
      <p:italic r:id="rId20"/>
      <p:boldItalic r:id="rId21"/>
    </p:embeddedFont>
    <p:embeddedFont>
      <p:font typeface="Franklin Gothic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11" Type="http://schemas.openxmlformats.org/officeDocument/2006/relationships/slide" Target="slides/slide6.xml"/><Relationship Id="rId22" Type="http://schemas.openxmlformats.org/officeDocument/2006/relationships/font" Target="fonts/FranklinGothic-bold.fntdata"/><Relationship Id="rId10" Type="http://schemas.openxmlformats.org/officeDocument/2006/relationships/slide" Target="slides/slide5.xml"/><Relationship Id="rId21" Type="http://schemas.openxmlformats.org/officeDocument/2006/relationships/font" Target="fonts/LibreFranklin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-bold.fntdata"/><Relationship Id="rId6" Type="http://schemas.openxmlformats.org/officeDocument/2006/relationships/slide" Target="slides/slide1.xml"/><Relationship Id="rId18" Type="http://schemas.openxmlformats.org/officeDocument/2006/relationships/font" Target="fonts/LibreFrankli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2f9794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2f9794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2f9794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2f9794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2f9794f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2f9794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f2f9794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f2f9794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f2f9794f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f2f9794f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2f9794f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2f9794f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f2f9794f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f2f9794f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 u="sng">
                <a:solidFill>
                  <a:schemeClr val="accent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STEGANOGRAPHY</a:t>
            </a:r>
            <a:endParaRPr b="1" sz="6600" u="sng"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solidFill>
                  <a:srgbClr val="1CADE4"/>
                </a:solidFill>
              </a:rPr>
              <a:t>OUTLINE</a:t>
            </a:r>
            <a:endParaRPr b="1" u="sng">
              <a:solidFill>
                <a:srgbClr val="1CADE4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GB" sz="1350">
                <a:solidFill>
                  <a:srgbClr val="3F3F3F"/>
                </a:solidFill>
              </a:rPr>
              <a:t>  </a:t>
            </a:r>
            <a:endParaRPr sz="1207">
              <a:solidFill>
                <a:srgbClr val="3F3F3F"/>
              </a:solidFill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Problem Statement </a:t>
            </a:r>
            <a:endParaRPr sz="1207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Technology used</a:t>
            </a:r>
            <a:endParaRPr sz="1207">
              <a:solidFill>
                <a:srgbClr val="3F3F3F"/>
              </a:solidFill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Wow factor </a:t>
            </a:r>
            <a:endParaRPr sz="1350">
              <a:solidFill>
                <a:srgbClr val="3F3F3F"/>
              </a:solidFill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End users</a:t>
            </a:r>
            <a:endParaRPr sz="1207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Result</a:t>
            </a:r>
            <a:endParaRPr sz="1207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Conclusion</a:t>
            </a:r>
            <a:endParaRPr sz="1207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Git-hub Link</a:t>
            </a:r>
            <a:endParaRPr sz="1207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9494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ADE4"/>
              </a:buClr>
              <a:buSzPts val="1274"/>
              <a:buFont typeface="Noto Sans Symbols"/>
              <a:buChar char="◼"/>
            </a:pPr>
            <a:r>
              <a:rPr b="1" lang="en-GB" sz="1350">
                <a:solidFill>
                  <a:srgbClr val="3F3F3F"/>
                </a:solidFill>
              </a:rPr>
              <a:t>Future scope</a:t>
            </a:r>
            <a:endParaRPr sz="1207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b="1" sz="1350">
              <a:solidFill>
                <a:srgbClr val="3F3F3F"/>
              </a:solidFill>
            </a:endParaRPr>
          </a:p>
          <a:p>
            <a:pPr indent="-188595" lvl="0" marL="30543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b="1" sz="1350">
              <a:solidFill>
                <a:srgbClr val="3F3F3F"/>
              </a:solidFill>
            </a:endParaRPr>
          </a:p>
          <a:p>
            <a:pPr indent="-206121" lvl="0" marL="305435" rtl="0" algn="l">
              <a:lnSpc>
                <a:spcPct val="9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207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25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Arial"/>
              <a:buNone/>
            </a:pPr>
            <a:r>
              <a:rPr b="1" lang="en-GB" sz="4400">
                <a:solidFill>
                  <a:srgbClr val="1CADE4"/>
                </a:solidFill>
              </a:rPr>
              <a:t>PROBLEM STATEMENT</a:t>
            </a:r>
            <a:endParaRPr sz="4400">
              <a:solidFill>
                <a:srgbClr val="3F3F3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Traditional encryption methods are easily detectable and can raise suspicion.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Need for a secure way to hide confidential messages within images.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Ensuring data security while maintaining the integrity of the cover image.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Making encryption and decryption accessible to non-technical users through a simple interface. 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Arial"/>
              <a:buNone/>
            </a:pPr>
            <a:r>
              <a:rPr b="1" lang="en-GB" sz="4400">
                <a:solidFill>
                  <a:srgbClr val="1CADE4"/>
                </a:solidFill>
              </a:rPr>
              <a:t>TECHNOLOGY  USED</a:t>
            </a:r>
            <a:endParaRPr sz="4400">
              <a:solidFill>
                <a:srgbClr val="3F3F3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24"/>
              <a:buFont typeface="Arial"/>
              <a:buChar char="•"/>
            </a:pPr>
            <a:r>
              <a:rPr b="1" lang="en-GB" sz="2200">
                <a:solidFill>
                  <a:schemeClr val="dk1"/>
                </a:solidFill>
              </a:rPr>
              <a:t>Programming Language:</a:t>
            </a:r>
            <a:r>
              <a:rPr lang="en-GB" sz="2200">
                <a:solidFill>
                  <a:schemeClr val="dk1"/>
                </a:solidFill>
              </a:rPr>
              <a:t> Python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1CADE4"/>
              </a:buClr>
              <a:buSzPts val="2024"/>
              <a:buFont typeface="Arial"/>
              <a:buChar char="•"/>
            </a:pPr>
            <a:r>
              <a:rPr b="1" lang="en-GB" sz="2200">
                <a:solidFill>
                  <a:schemeClr val="dk1"/>
                </a:solidFill>
              </a:rPr>
              <a:t>Image Processing Library:</a:t>
            </a:r>
            <a:r>
              <a:rPr lang="en-GB" sz="2200">
                <a:solidFill>
                  <a:schemeClr val="dk1"/>
                </a:solidFill>
              </a:rPr>
              <a:t> OpenCV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1CADE4"/>
              </a:buClr>
              <a:buSzPts val="2024"/>
              <a:buFont typeface="Arial"/>
              <a:buChar char="•"/>
            </a:pPr>
            <a:r>
              <a:rPr b="1" lang="en-GB" sz="2200">
                <a:solidFill>
                  <a:schemeClr val="dk1"/>
                </a:solidFill>
              </a:rPr>
              <a:t>Graphical User Interface (GUI):</a:t>
            </a:r>
            <a:r>
              <a:rPr lang="en-GB" sz="2200">
                <a:solidFill>
                  <a:schemeClr val="dk1"/>
                </a:solidFill>
              </a:rPr>
              <a:t> Tkinter</a:t>
            </a:r>
            <a:endParaRPr sz="2200">
              <a:solidFill>
                <a:schemeClr val="dk1"/>
              </a:solidFill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1CADE4"/>
              </a:buClr>
              <a:buSzPts val="2024"/>
              <a:buFont typeface="Arial"/>
              <a:buChar char="•"/>
            </a:pPr>
            <a:r>
              <a:rPr b="1" lang="en-GB" sz="2200">
                <a:solidFill>
                  <a:schemeClr val="dk1"/>
                </a:solidFill>
              </a:rPr>
              <a:t>File Handling &amp; Security:</a:t>
            </a:r>
            <a:r>
              <a:rPr lang="en-GB" sz="2200">
                <a:solidFill>
                  <a:schemeClr val="dk1"/>
                </a:solidFill>
              </a:rPr>
              <a:t> Basic encryption logic for password protection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1CADE4"/>
              </a:buClr>
              <a:buSzPts val="2024"/>
              <a:buFont typeface="Arial"/>
              <a:buChar char="•"/>
            </a:pPr>
            <a:r>
              <a:rPr b="1" lang="en-GB" sz="2200">
                <a:solidFill>
                  <a:schemeClr val="dk1"/>
                </a:solidFill>
              </a:rPr>
              <a:t>Additional Libraries:</a:t>
            </a:r>
            <a:r>
              <a:rPr lang="en-GB" sz="2200">
                <a:solidFill>
                  <a:schemeClr val="dk1"/>
                </a:solidFill>
              </a:rPr>
              <a:t> Pillow (for image handling) 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1CADE4"/>
              </a:buClr>
              <a:buSzPts val="2024"/>
              <a:buFont typeface="Arial"/>
              <a:buChar char="•"/>
            </a:pPr>
            <a:r>
              <a:rPr b="1" lang="en-GB" sz="2200">
                <a:solidFill>
                  <a:schemeClr val="dk1"/>
                </a:solidFill>
              </a:rPr>
              <a:t>Platform: </a:t>
            </a:r>
            <a:r>
              <a:rPr lang="en-GB" sz="2200">
                <a:solidFill>
                  <a:schemeClr val="dk1"/>
                </a:solidFill>
              </a:rPr>
              <a:t>Windows 11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Arial"/>
              <a:buNone/>
            </a:pPr>
            <a:r>
              <a:rPr b="1" lang="en-GB" sz="4000">
                <a:solidFill>
                  <a:srgbClr val="1CADE4"/>
                </a:solidFill>
              </a:rPr>
              <a:t>WOW FACTORS</a:t>
            </a:r>
            <a:endParaRPr sz="40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Uses </a:t>
            </a:r>
            <a:r>
              <a:rPr b="1" lang="en-GB" sz="2200">
                <a:solidFill>
                  <a:schemeClr val="dk1"/>
                </a:solidFill>
              </a:rPr>
              <a:t>steganography</a:t>
            </a:r>
            <a:r>
              <a:rPr lang="en-GB" sz="2200">
                <a:solidFill>
                  <a:schemeClr val="dk1"/>
                </a:solidFill>
              </a:rPr>
              <a:t> to embed a message into an image without noticeable changes.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en-GB" sz="2200">
                <a:solidFill>
                  <a:schemeClr val="dk1"/>
                </a:solidFill>
              </a:rPr>
              <a:t>User-friendly GUI</a:t>
            </a:r>
            <a:r>
              <a:rPr lang="en-GB" sz="2200">
                <a:solidFill>
                  <a:schemeClr val="dk1"/>
                </a:solidFill>
              </a:rPr>
              <a:t> for easy encryption and decryption.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Lossless data hiding using </a:t>
            </a:r>
            <a:r>
              <a:rPr b="1" lang="en-GB" sz="2200">
                <a:solidFill>
                  <a:schemeClr val="dk1"/>
                </a:solidFill>
              </a:rPr>
              <a:t>pixel value manipulation</a:t>
            </a:r>
            <a:r>
              <a:rPr lang="en-GB" sz="2200">
                <a:solidFill>
                  <a:schemeClr val="dk1"/>
                </a:solidFill>
              </a:rPr>
              <a:t> instead of traditional cryptographic techniques.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Works on </a:t>
            </a:r>
            <a:r>
              <a:rPr b="1" lang="en-GB" sz="2200">
                <a:solidFill>
                  <a:schemeClr val="dk1"/>
                </a:solidFill>
              </a:rPr>
              <a:t>any standard image file format</a:t>
            </a:r>
            <a:r>
              <a:rPr lang="en-GB" sz="2200">
                <a:solidFill>
                  <a:schemeClr val="dk1"/>
                </a:solidFill>
              </a:rPr>
              <a:t> (PNG recommended for best results). 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Franklin Gothic"/>
              <a:buNone/>
            </a:pPr>
            <a:r>
              <a:rPr lang="en-GB" sz="4000">
                <a:solidFill>
                  <a:srgbClr val="1CADE4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END USERS</a:t>
            </a:r>
            <a:endParaRPr>
              <a:solidFill>
                <a:srgbClr val="3F3F3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en-GB" sz="2200">
                <a:solidFill>
                  <a:schemeClr val="dk1"/>
                </a:solidFill>
              </a:rPr>
              <a:t>Cybersecurity Enthusiasts</a:t>
            </a:r>
            <a:r>
              <a:rPr lang="en-GB" sz="2200">
                <a:solidFill>
                  <a:schemeClr val="dk1"/>
                </a:solidFill>
              </a:rPr>
              <a:t> – Exploring secure communication techniques.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en-GB" sz="2200">
                <a:solidFill>
                  <a:schemeClr val="dk1"/>
                </a:solidFill>
              </a:rPr>
              <a:t>Government &amp; Defense</a:t>
            </a:r>
            <a:r>
              <a:rPr lang="en-GB" sz="2200">
                <a:solidFill>
                  <a:schemeClr val="dk1"/>
                </a:solidFill>
              </a:rPr>
              <a:t> – Secure message transmission without raising suspicion.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en-GB" sz="2200">
                <a:solidFill>
                  <a:schemeClr val="dk1"/>
                </a:solidFill>
              </a:rPr>
              <a:t>Journalists &amp; Activists</a:t>
            </a:r>
            <a:r>
              <a:rPr lang="en-GB" sz="2200">
                <a:solidFill>
                  <a:schemeClr val="dk1"/>
                </a:solidFill>
              </a:rPr>
              <a:t> – Concealing sensitive information in images to avoid surveillance.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en-GB" sz="2200">
                <a:solidFill>
                  <a:schemeClr val="dk1"/>
                </a:solidFill>
              </a:rPr>
              <a:t>Software Developers</a:t>
            </a:r>
            <a:r>
              <a:rPr lang="en-GB" sz="2200">
                <a:solidFill>
                  <a:schemeClr val="dk1"/>
                </a:solidFill>
              </a:rPr>
              <a:t> – Learning steganography concepts and their applications. 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Franklin Gothic"/>
              <a:buNone/>
            </a:pPr>
            <a:r>
              <a:rPr lang="en-GB" sz="4000">
                <a:solidFill>
                  <a:srgbClr val="1CADE4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RESULTS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662375" y="1231100"/>
            <a:ext cx="16194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600"/>
              <a:t>GUI</a:t>
            </a:r>
            <a:endParaRPr b="1" sz="1600"/>
          </a:p>
        </p:txBody>
      </p:sp>
      <p:sp>
        <p:nvSpPr>
          <p:cNvPr id="92" name="Google Shape;92;p19"/>
          <p:cNvSpPr txBox="1"/>
          <p:nvPr/>
        </p:nvSpPr>
        <p:spPr>
          <a:xfrm>
            <a:off x="411950" y="1231100"/>
            <a:ext cx="20835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Encryption Code: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6960425" y="1231100"/>
            <a:ext cx="1988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Decryption Code: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575" y="1695500"/>
            <a:ext cx="3401700" cy="31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2375" y="1680911"/>
            <a:ext cx="3098996" cy="316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8475" y="1659800"/>
            <a:ext cx="2769743" cy="335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Franklin Gothic"/>
              <a:buNone/>
            </a:pPr>
            <a:r>
              <a:rPr lang="en-GB" sz="4000">
                <a:solidFill>
                  <a:srgbClr val="1CADE4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CONCLUSION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Steganography provides a </a:t>
            </a:r>
            <a:r>
              <a:rPr b="1" lang="en-GB" sz="2200">
                <a:solidFill>
                  <a:schemeClr val="dk1"/>
                </a:solidFill>
              </a:rPr>
              <a:t>covert</a:t>
            </a:r>
            <a:r>
              <a:rPr lang="en-GB" sz="2200">
                <a:solidFill>
                  <a:schemeClr val="dk1"/>
                </a:solidFill>
              </a:rPr>
              <a:t> way of communicating sensitive information.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This project showcases a </a:t>
            </a:r>
            <a:r>
              <a:rPr b="1" lang="en-GB" sz="2200">
                <a:solidFill>
                  <a:schemeClr val="dk1"/>
                </a:solidFill>
              </a:rPr>
              <a:t>simple yet effective</a:t>
            </a:r>
            <a:r>
              <a:rPr lang="en-GB" sz="2200">
                <a:solidFill>
                  <a:schemeClr val="dk1"/>
                </a:solidFill>
              </a:rPr>
              <a:t> implementation of message hiding in images.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The GUI makes encryption and decryption </a:t>
            </a:r>
            <a:r>
              <a:rPr b="1" lang="en-GB" sz="2200">
                <a:solidFill>
                  <a:schemeClr val="dk1"/>
                </a:solidFill>
              </a:rPr>
              <a:t>accessible</a:t>
            </a:r>
            <a:r>
              <a:rPr lang="en-GB" sz="2200">
                <a:solidFill>
                  <a:schemeClr val="dk1"/>
                </a:solidFill>
              </a:rPr>
              <a:t> even to non-technical users.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GB" sz="2200">
                <a:solidFill>
                  <a:schemeClr val="dk1"/>
                </a:solidFill>
              </a:rPr>
              <a:t>Future improvements can make it more </a:t>
            </a:r>
            <a:r>
              <a:rPr b="1" lang="en-GB" sz="2200">
                <a:solidFill>
                  <a:schemeClr val="dk1"/>
                </a:solidFill>
              </a:rPr>
              <a:t>robust, secure, and scalable.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